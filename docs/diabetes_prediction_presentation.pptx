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embeddedFontLs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Instrument Sans Medium" panose="020B0604020202020204" charset="0"/>
      <p:regular r:id="rId22"/>
    </p:embeddedFont>
    <p:embeddedFont>
      <p:font typeface="Instrument Sans SemiBold" panose="020B0604020202020204" charset="0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7134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EEF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023170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Diabetes Prediction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897287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complete machine learning pipeline for predicting diabetes diagnosis probability from patient health indicators — covering exploratory analysis, preprocessing, model training, and evaluation.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4017169"/>
            <a:ext cx="4048123" cy="355203"/>
          </a:xfrm>
          <a:prstGeom prst="roundRect">
            <a:avLst>
              <a:gd name="adj" fmla="val 38314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774879" y="4073823"/>
            <a:ext cx="4430899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KAGGLE COMPETITION · PLAYGROUND SERIES S5E12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61475" y="4466828"/>
            <a:ext cx="4555713" cy="367903"/>
          </a:xfrm>
          <a:prstGeom prst="roundRect">
            <a:avLst>
              <a:gd name="adj" fmla="val 36992"/>
            </a:avLst>
          </a:prstGeom>
          <a:noFill/>
          <a:ln w="6350">
            <a:solidFill>
              <a:srgbClr val="84C1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781229" y="4529832"/>
            <a:ext cx="4925790" cy="241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SANSONE LORENZO · UNIVERSITY OF BOLOGNA · 2025/2026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6503" y="554633"/>
            <a:ext cx="936006" cy="315119"/>
          </a:xfrm>
          <a:prstGeom prst="roundRect">
            <a:avLst>
              <a:gd name="adj" fmla="val 38262"/>
            </a:avLst>
          </a:prstGeom>
          <a:noFill/>
          <a:ln w="6350">
            <a:solidFill>
              <a:srgbClr val="84C1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853260" y="611188"/>
            <a:ext cx="1332078" cy="202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5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OVERVIEW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46503" y="929084"/>
            <a:ext cx="4796015" cy="523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Objective &amp; Dataset</a:t>
            </a:r>
            <a:endParaRPr lang="en-US" sz="3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03" y="2252266"/>
            <a:ext cx="6129978" cy="34736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72523" y="1823244"/>
            <a:ext cx="2702750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Goal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972523" y="2233216"/>
            <a:ext cx="3478919" cy="1029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Predict the </a:t>
            </a:r>
            <a:r>
              <a:rPr lang="en-US" sz="13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probability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of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diagnosed_diabetes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for each patient. Primary metric: </a:t>
            </a:r>
            <a:r>
              <a:rPr lang="en-US" sz="13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ROC-AUC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(Area Under the ROC Curve).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72523" y="3411041"/>
            <a:ext cx="2702750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Data Source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972523" y="3821013"/>
            <a:ext cx="3478919" cy="757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Synthetically generated from the </a:t>
            </a:r>
            <a:r>
              <a:rPr lang="en-US" sz="13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Diabetes Health Indicators Dataset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realistic distributions, privacy-preserving.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72523" y="4727178"/>
            <a:ext cx="2702750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Files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972523" y="5137151"/>
            <a:ext cx="3478919" cy="340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13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train.csv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700,000 rows, 26 columns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215" y="0"/>
            <a:ext cx="48004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567333"/>
            <a:ext cx="773093" cy="299045"/>
          </a:xfrm>
          <a:prstGeom prst="roundRect">
            <a:avLst>
              <a:gd name="adj" fmla="val 38683"/>
            </a:avLst>
          </a:prstGeom>
          <a:noFill/>
          <a:ln w="6350">
            <a:solidFill>
              <a:srgbClr val="84C1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1"/>
          <p:cNvSpPr/>
          <p:nvPr/>
        </p:nvSpPr>
        <p:spPr>
          <a:xfrm>
            <a:off x="764164" y="621804"/>
            <a:ext cx="1177300" cy="190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PIPELINE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61475" y="920948"/>
            <a:ext cx="4626157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Full ML Workflow</a:t>
            </a:r>
            <a:endParaRPr lang="en-US" sz="3150" dirty="0"/>
          </a:p>
        </p:txBody>
      </p:sp>
      <p:sp>
        <p:nvSpPr>
          <p:cNvPr id="6" name="Text 3"/>
          <p:cNvSpPr/>
          <p:nvPr/>
        </p:nvSpPr>
        <p:spPr>
          <a:xfrm>
            <a:off x="661475" y="1627783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01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61475" y="1881684"/>
            <a:ext cx="6296860" cy="1905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661475" y="2000052"/>
            <a:ext cx="301071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Exploratory Analysis &amp; Cleaning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61475" y="2332930"/>
            <a:ext cx="629686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Understand distributions, detect outliers, check class balance, correlations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61475" y="2827635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02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61475" y="3081536"/>
            <a:ext cx="6296860" cy="1905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661475" y="3199904"/>
            <a:ext cx="200823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Preprocessing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661475" y="3532783"/>
            <a:ext cx="629686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Encode categoricals, scale continuous features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61475" y="4027488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61475" y="4281388"/>
            <a:ext cx="6296860" cy="1905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661475" y="4399756"/>
            <a:ext cx="200823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Model Training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661475" y="4732635"/>
            <a:ext cx="629686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GridSearchCV with 5-fold StratifiedKFold across 8 classifiers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61475" y="5227340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Light" pitchFamily="34" charset="0"/>
                <a:ea typeface="Instrument Sans Light" pitchFamily="34" charset="-122"/>
                <a:cs typeface="Instrument Sans Light" pitchFamily="34" charset="-120"/>
              </a:rPr>
              <a:t>04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61475" y="5481241"/>
            <a:ext cx="6296860" cy="19050"/>
          </a:xfrm>
          <a:prstGeom prst="rect">
            <a:avLst/>
          </a:prstGeom>
          <a:solidFill>
            <a:srgbClr val="84C1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661475" y="5599609"/>
            <a:ext cx="238555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Evaluation &amp; Comparison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661475" y="5932488"/>
            <a:ext cx="629686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ROC-AUC on isolated hold-out test set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6503" y="569516"/>
            <a:ext cx="1690546" cy="360462"/>
          </a:xfrm>
          <a:prstGeom prst="roundRect">
            <a:avLst>
              <a:gd name="adj" fmla="val 37165"/>
            </a:avLst>
          </a:prstGeom>
          <a:noFill/>
          <a:ln w="6350">
            <a:solidFill>
              <a:srgbClr val="84C1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864471" y="631627"/>
            <a:ext cx="206419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15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EXPLORATION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46503" y="1003201"/>
            <a:ext cx="5261141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Dataset at a Glance</a:t>
            </a:r>
            <a:endParaRPr lang="en-US" sz="3650" dirty="0"/>
          </a:p>
        </p:txBody>
      </p:sp>
      <p:sp>
        <p:nvSpPr>
          <p:cNvPr id="5" name="Text 3"/>
          <p:cNvSpPr/>
          <p:nvPr/>
        </p:nvSpPr>
        <p:spPr>
          <a:xfrm>
            <a:off x="746503" y="1952327"/>
            <a:ext cx="5234849" cy="614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8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700K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201014" y="2796679"/>
            <a:ext cx="232572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Rows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6503" y="3197225"/>
            <a:ext cx="52348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Synthetic patient profiles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210244" y="1952327"/>
            <a:ext cx="5234948" cy="614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8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24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7664854" y="2796679"/>
            <a:ext cx="232572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Features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10244" y="3197225"/>
            <a:ext cx="523494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 domains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46503" y="3951784"/>
            <a:ext cx="5234849" cy="614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8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0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201014" y="4796135"/>
            <a:ext cx="232572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Missing Values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46503" y="5196681"/>
            <a:ext cx="52348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Clean dataset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210244" y="3951784"/>
            <a:ext cx="5234948" cy="614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8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62%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7664854" y="4796135"/>
            <a:ext cx="2325729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Positive Class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210244" y="5196681"/>
            <a:ext cx="523494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2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Mildly imbalanced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46503" y="5697934"/>
            <a:ext cx="1069868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Features span </a:t>
            </a:r>
            <a:r>
              <a:rPr lang="en-US" sz="14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clinical measurements</a:t>
            </a: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(BMI, blood pressure, cholesterol, …), </a:t>
            </a:r>
            <a:r>
              <a:rPr lang="en-US" sz="14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lifestyle habits</a:t>
            </a: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(diet, activity, sleep, …), </a:t>
            </a:r>
            <a:r>
              <a:rPr lang="en-US" sz="14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demographics</a:t>
            </a: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(age, ethnicity, income, …) and </a:t>
            </a:r>
            <a:r>
              <a:rPr lang="en-US" sz="14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medical history</a:t>
            </a:r>
            <a:r>
              <a:rPr lang="en-US" sz="14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(family diabetes, hypertension, cardiovascular, …).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635992"/>
            <a:ext cx="1631215" cy="344289"/>
          </a:xfrm>
          <a:prstGeom prst="roundRect">
            <a:avLst>
              <a:gd name="adj" fmla="val 37552"/>
            </a:avLst>
          </a:prstGeom>
          <a:noFill/>
          <a:ln w="6350">
            <a:solidFill>
              <a:srgbClr val="84C1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75574" y="696119"/>
            <a:ext cx="2012800" cy="224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EXPLORATION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574" y="1048445"/>
            <a:ext cx="8035029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Target Distribution &amp; Class Balance</a:t>
            </a:r>
            <a:endParaRPr lang="en-US" sz="3500" dirty="0"/>
          </a:p>
        </p:txBody>
      </p:sp>
      <p:sp>
        <p:nvSpPr>
          <p:cNvPr id="6" name="Text 3"/>
          <p:cNvSpPr/>
          <p:nvPr/>
        </p:nvSpPr>
        <p:spPr>
          <a:xfrm>
            <a:off x="8017270" y="2036068"/>
            <a:ext cx="285415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Class Proportions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017270" y="2487116"/>
            <a:ext cx="3519201" cy="2114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62.33%</a:t>
            </a: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diagnosed with diabetes (positive class) vs </a:t>
            </a:r>
            <a:r>
              <a:rPr lang="en-US" sz="14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37.67%</a:t>
            </a: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without. Positive/negative ratio: </a:t>
            </a:r>
            <a:r>
              <a:rPr lang="en-US" sz="14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1.65</a:t>
            </a: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target is </a:t>
            </a:r>
            <a:r>
              <a:rPr lang="en-US" sz="14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mildly imbalanced</a:t>
            </a:r>
            <a:r>
              <a:rPr lang="en-US" sz="14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stratified splits and class-weighting were considered, but stratification alone proved sufficient.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017270" y="4793159"/>
            <a:ext cx="3519201" cy="1236960"/>
          </a:xfrm>
          <a:prstGeom prst="roundRect">
            <a:avLst>
              <a:gd name="adj" fmla="val 13065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6752" y="5063629"/>
            <a:ext cx="224427" cy="17948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00661" y="4991497"/>
            <a:ext cx="2756327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duplicate rows detected. Zero NaN values across all 26 columns.</a:t>
            </a:r>
            <a:endParaRPr lang="en-US" sz="1400" dirty="0"/>
          </a:p>
        </p:txBody>
      </p:sp>
      <p:pic>
        <p:nvPicPr>
          <p:cNvPr id="14" name="Immagine 13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9B9F983C-1A53-FFB0-944E-D8B9F42457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074" y="2045356"/>
            <a:ext cx="7527713" cy="25843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6503" y="519807"/>
            <a:ext cx="1354997" cy="272256"/>
          </a:xfrm>
          <a:prstGeom prst="roundRect">
            <a:avLst>
              <a:gd name="adj" fmla="val 39365"/>
            </a:avLst>
          </a:prstGeom>
          <a:noFill/>
          <a:ln w="6350">
            <a:solidFill>
              <a:srgbClr val="84C1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842148" y="570805"/>
            <a:ext cx="1773292" cy="170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0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EXPLORATION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46503" y="838895"/>
            <a:ext cx="636581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Numerical Features Distributions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46503" y="1479848"/>
            <a:ext cx="10698689" cy="425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 understand the intrinsic shape, symmetry, and potential anomalies of our continuous features, a histogram with a Kernel Density Estimate (KDE) was plotted for each of the 14 numerical variables, using 40 bins.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737938" y="2027376"/>
            <a:ext cx="247018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Key Observations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737938" y="2377023"/>
            <a:ext cx="3508486" cy="3216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9000"/>
              </a:lnSpc>
              <a:buSzPct val="100000"/>
              <a:buChar char="•"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Most clinical features (</a:t>
            </a:r>
            <a:r>
              <a:rPr lang="en-US" sz="11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bmi</a:t>
            </a: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</a:t>
            </a:r>
            <a:r>
              <a:rPr lang="en-US" sz="11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systolic_bp</a:t>
            </a: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</a:t>
            </a:r>
            <a:r>
              <a:rPr lang="en-US" sz="11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heart_rate</a:t>
            </a: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</a:t>
            </a:r>
            <a:r>
              <a:rPr lang="en-US" sz="11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cholesterol</a:t>
            </a: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metrics) exhibit a roughly bell-shaped, near-Gaussian distribution.</a:t>
            </a:r>
            <a:endParaRPr lang="en-US" sz="1150" dirty="0"/>
          </a:p>
          <a:p>
            <a:pPr marL="342900" indent="-342900" algn="l">
              <a:lnSpc>
                <a:spcPct val="119000"/>
              </a:lnSpc>
              <a:buSzPct val="100000"/>
              <a:buChar char="•"/>
            </a:pPr>
            <a:r>
              <a:rPr lang="en-US" sz="11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physical_activity_minutes_per_week</a:t>
            </a: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is distinctly right-skewed with a prominent long tail, indicating a few patients with exceptionally high activity levels.</a:t>
            </a:r>
            <a:endParaRPr lang="en-US" sz="1150" dirty="0"/>
          </a:p>
          <a:p>
            <a:pPr marL="342900" indent="-342900" algn="l">
              <a:lnSpc>
                <a:spcPct val="119000"/>
              </a:lnSpc>
              <a:buSzPct val="100000"/>
              <a:buChar char="•"/>
            </a:pPr>
            <a:r>
              <a:rPr lang="en-US" sz="11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diet_score</a:t>
            </a: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</a:t>
            </a:r>
            <a:r>
              <a:rPr lang="en-US" sz="11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sleep_hours_per_day</a:t>
            </a: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and </a:t>
            </a:r>
            <a:r>
              <a:rPr lang="en-US" sz="11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screen_time_hours_per_day</a:t>
            </a: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generally appear symmetric.</a:t>
            </a:r>
            <a:endParaRPr lang="en-US" sz="1150" dirty="0"/>
          </a:p>
          <a:p>
            <a:pPr marL="342900" indent="-342900" algn="l">
              <a:lnSpc>
                <a:spcPct val="119000"/>
              </a:lnSpc>
              <a:buSzPct val="100000"/>
              <a:buChar char="•"/>
            </a:pPr>
            <a:r>
              <a:rPr lang="en-US" sz="11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spans a wide range from 19 to 89 years, with a relatively uniform distribution across adult age groups.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46503" y="5893792"/>
            <a:ext cx="10698689" cy="444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      </a:t>
            </a:r>
            <a:r>
              <a:rPr lang="en-US" sz="11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Takeaway:</a:t>
            </a: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The majority of features are mostly well-behaved and near-Gaussian, which supports the effectiveness of StandardScaler for preprocessing. </a:t>
            </a:r>
            <a:r>
              <a:rPr lang="en-US" sz="11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physical_activity_minutes_per_week</a:t>
            </a: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remains the main exception, echoing its significance in outlier analysis.     </a:t>
            </a:r>
            <a:endParaRPr lang="en-US" sz="1150" dirty="0"/>
          </a:p>
        </p:txBody>
      </p:sp>
      <p:pic>
        <p:nvPicPr>
          <p:cNvPr id="23" name="Immagine 22" descr="Immagine che contiene schizzo, diagramma&#10;&#10;Il contenuto generato dall'IA potrebbe non essere corretto.">
            <a:extLst>
              <a:ext uri="{FF2B5EF4-FFF2-40B4-BE49-F238E27FC236}">
                <a16:creationId xmlns:a16="http://schemas.microsoft.com/office/drawing/2014/main" id="{0D98F7CD-A7F4-1708-DBAE-DD5E987EB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710" y="2023353"/>
            <a:ext cx="3699459" cy="369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552252"/>
            <a:ext cx="1546186" cy="321568"/>
          </a:xfrm>
          <a:prstGeom prst="roundRect">
            <a:avLst>
              <a:gd name="adj" fmla="val 38090"/>
            </a:avLst>
          </a:prstGeom>
          <a:noFill/>
          <a:ln w="6350">
            <a:solidFill>
              <a:srgbClr val="84C1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69918" y="609600"/>
            <a:ext cx="1939083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EXPLORATION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574" y="935038"/>
            <a:ext cx="6196056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Outlier Detection (IQR Rule)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61574" y="1696244"/>
            <a:ext cx="11478132" cy="2647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Outliers are flagged using the IQR rule: points falling outside [Q1 - 1.5 * IQR, Q3 + 1.5 * IQR].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47690" y="2041208"/>
            <a:ext cx="273598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Key Observations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4547690" y="2390301"/>
            <a:ext cx="3534282" cy="2444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Heavy upper tails: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Pronounced in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physical_activity_minutes_per_week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(max value 747, far exceeding IQR upper bound),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triglycerides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cholesterol_total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ldl_cholesterol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systolic_bp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and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bmi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3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Two-sided tails: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Features like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hdl_cholesterol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waist_to_hip_ratio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and </a:t>
            </a: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heart_rate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exhibit significant outliers on both the lower and upper bounds.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1574" y="5788620"/>
            <a:ext cx="10868547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Takeaway: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This highlights the necessity of feature scaling for linear models (SVM, KNN), which are highly sensitive to extreme values. Tree-based models (Random Forest, XGBoost, CatBoost) are inherently more robust to outliers.</a:t>
            </a:r>
            <a:endParaRPr lang="en-US" sz="1300" dirty="0"/>
          </a:p>
        </p:txBody>
      </p:sp>
      <p:pic>
        <p:nvPicPr>
          <p:cNvPr id="15" name="Immagine 14" descr="Immagine che contiene diagramma, Rettangolo, testo, Parallelo&#10;&#10;Il contenuto generato dall'IA potrebbe non essere corretto.">
            <a:extLst>
              <a:ext uri="{FF2B5EF4-FFF2-40B4-BE49-F238E27FC236}">
                <a16:creationId xmlns:a16="http://schemas.microsoft.com/office/drawing/2014/main" id="{F424E213-0AB2-3933-591F-9A5B3E59F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8" y="2035599"/>
            <a:ext cx="3685463" cy="36854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6503" y="569317"/>
            <a:ext cx="1521680" cy="315119"/>
          </a:xfrm>
          <a:prstGeom prst="roundRect">
            <a:avLst>
              <a:gd name="adj" fmla="val 38262"/>
            </a:avLst>
          </a:prstGeom>
          <a:noFill/>
          <a:ln w="6350">
            <a:solidFill>
              <a:srgbClr val="84C1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853260" y="625872"/>
            <a:ext cx="1917751" cy="202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05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EXPLORATION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46503" y="943769"/>
            <a:ext cx="5155972" cy="523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Correlation with Target</a:t>
            </a:r>
            <a:endParaRPr lang="en-US" sz="3250" dirty="0"/>
          </a:p>
        </p:txBody>
      </p:sp>
      <p:sp>
        <p:nvSpPr>
          <p:cNvPr id="6" name="Text 3"/>
          <p:cNvSpPr/>
          <p:nvPr/>
        </p:nvSpPr>
        <p:spPr>
          <a:xfrm>
            <a:off x="7972523" y="1837928"/>
            <a:ext cx="2702750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972523" y="2247900"/>
            <a:ext cx="3478919" cy="757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All per-feature correlations are </a:t>
            </a:r>
            <a:r>
              <a:rPr lang="en-US" sz="13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weak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no single feature is a strong standalone predictor.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72523" y="3139182"/>
            <a:ext cx="3478919" cy="2124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13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Top positive: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family_history_diabetes (r=0.21), age (r=0.16), systolic_bp, BMI, LDL</a:t>
            </a:r>
            <a:endParaRPr lang="en-US" sz="130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13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Top negative: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physical_activity_minutes_per_week (r=−0.17), HDL, diet_score</a:t>
            </a:r>
            <a:endParaRPr lang="en-US" sz="1300" dirty="0"/>
          </a:p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r>
              <a:rPr lang="en-US" sz="13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Near-zero: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sleep_hours_per_day, alcohol_consumption_per_week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972523" y="5397302"/>
            <a:ext cx="3478919" cy="757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explains the modest final ROC-AUC — the signal is distributed across many weak features.</a:t>
            </a:r>
            <a:endParaRPr lang="en-US" sz="1300" dirty="0"/>
          </a:p>
        </p:txBody>
      </p:sp>
      <p:pic>
        <p:nvPicPr>
          <p:cNvPr id="109" name="Immagine 108" descr="Immagine che contiene testo, schermata, diagramma, Diagramma&#10;&#10;Il contenuto generato dall'IA potrebbe non essere corretto.">
            <a:extLst>
              <a:ext uri="{FF2B5EF4-FFF2-40B4-BE49-F238E27FC236}">
                <a16:creationId xmlns:a16="http://schemas.microsoft.com/office/drawing/2014/main" id="{896A3AEE-9A9B-D4E5-67F6-548273B05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60" y="1622290"/>
            <a:ext cx="6157140" cy="51817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656233"/>
            <a:ext cx="1282370" cy="299045"/>
          </a:xfrm>
          <a:prstGeom prst="roundRect">
            <a:avLst>
              <a:gd name="adj" fmla="val 38683"/>
            </a:avLst>
          </a:prstGeom>
          <a:noFill/>
          <a:ln w="6350">
            <a:solidFill>
              <a:srgbClr val="84C1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64263" y="710704"/>
            <a:ext cx="1686577" cy="190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574" y="1009848"/>
            <a:ext cx="7846122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From Raw Data to Model-Ready Matrix</a:t>
            </a:r>
            <a:endParaRPr lang="en-US" sz="3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74" y="1716683"/>
            <a:ext cx="803255" cy="9640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1351" y="1877318"/>
            <a:ext cx="308403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Drop ID </a:t>
            </a:r>
            <a:r>
              <a:rPr lang="en-US" sz="155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+ Target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601351" y="2210197"/>
            <a:ext cx="992877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Remove non-predictive row identifier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74" y="2680692"/>
            <a:ext cx="803255" cy="96400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1351" y="2841327"/>
            <a:ext cx="200823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Encode Categoricals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601351" y="3174206"/>
            <a:ext cx="992877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Ordinal for education &amp; income; one-hot for gender, ethnicity, smoking, employment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574" y="3644702"/>
            <a:ext cx="803255" cy="96400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01351" y="3805337"/>
            <a:ext cx="200823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Split Data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1601351" y="4138216"/>
            <a:ext cx="992877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67% train / 33% test, stratified</a:t>
            </a:r>
            <a:endParaRPr lang="en-US" sz="12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574" y="4608711"/>
            <a:ext cx="803255" cy="96400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01351" y="4769346"/>
            <a:ext cx="2008236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Scale Features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1601351" y="5102225"/>
            <a:ext cx="992877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StandardScaler on continuous features (mean=0, std=1)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661574" y="5726311"/>
            <a:ext cx="10868547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Feature matrix expanded from </a:t>
            </a:r>
            <a:r>
              <a:rPr lang="en-US" sz="12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24 → 35 columns</a:t>
            </a: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after one-hot encoding. StandardScaler outperformed RobustScaler and no-scaling in validation tests.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638274"/>
            <a:ext cx="1356882" cy="321568"/>
          </a:xfrm>
          <a:prstGeom prst="roundRect">
            <a:avLst>
              <a:gd name="adj" fmla="val 38090"/>
            </a:avLst>
          </a:prstGeom>
          <a:noFill/>
          <a:ln w="6350">
            <a:solidFill>
              <a:srgbClr val="84C1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69918" y="695623"/>
            <a:ext cx="1749778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PREPROCESSING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574" y="1021060"/>
            <a:ext cx="724507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Encoding of Categorical Features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61574" y="1782266"/>
            <a:ext cx="10868547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 prepare categorical features for machine learning models, three distinct encoding strategies were applied based on the variable's nature.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574" y="2624733"/>
            <a:ext cx="273598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Ordinal Encoding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61574" y="3043535"/>
            <a:ext cx="3308565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For variables with an inherent, meaningful order, ordinal encoding was used to preserve their ranking information.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1574" y="3956943"/>
            <a:ext cx="3308565" cy="1113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education_level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: No formal &lt; Highschool &lt; Graduate &lt; Postgraduate</a:t>
            </a:r>
            <a:endParaRPr lang="en-US" sz="13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income_level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: Low &lt; Lower-Middle &lt; Middle &lt; Upper-Middle &lt; High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91411" y="2624733"/>
            <a:ext cx="273598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One-Hot Encoding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391411" y="3043535"/>
            <a:ext cx="3421374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Purely nominal variables, where no natural order exists, were converted into binary (0/1) columns.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91411" y="3956943"/>
            <a:ext cx="3421374" cy="1245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gender</a:t>
            </a:r>
            <a:endParaRPr lang="en-US" sz="13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ethnicity</a:t>
            </a:r>
            <a:endParaRPr lang="en-US" sz="13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smoking_status</a:t>
            </a:r>
            <a:endParaRPr lang="en-US" sz="13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employment_status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34057" y="2624733"/>
            <a:ext cx="273598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No Encoding Needed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234057" y="3043535"/>
            <a:ext cx="3308565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Binary flags, already represented as 0s and 1s, required no further transformation.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34057" y="3956943"/>
            <a:ext cx="3308565" cy="920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family_history_diabetes</a:t>
            </a:r>
            <a:endParaRPr lang="en-US" sz="13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hypertension_history</a:t>
            </a:r>
            <a:endParaRPr lang="en-US" sz="13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cardiovascular_history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1574" y="5428555"/>
            <a:ext cx="10868547" cy="618927"/>
          </a:xfrm>
          <a:prstGeom prst="roundRect">
            <a:avLst>
              <a:gd name="adj" fmla="val 24737"/>
            </a:avLst>
          </a:prstGeom>
          <a:solidFill>
            <a:srgbClr val="B5DAFC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631" y="5663704"/>
            <a:ext cx="212620" cy="170061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214308" y="5608737"/>
            <a:ext cx="10755341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one-hot encoding process expanded the feature matrix from </a:t>
            </a:r>
            <a:r>
              <a:rPr lang="en-US" sz="130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24 raw features</a:t>
            </a: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to </a:t>
            </a:r>
            <a:r>
              <a:rPr lang="en-US" sz="130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35 columns</a:t>
            </a:r>
            <a:r>
              <a:rPr lang="en-US" sz="13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665758"/>
            <a:ext cx="1356882" cy="321568"/>
          </a:xfrm>
          <a:prstGeom prst="roundRect">
            <a:avLst>
              <a:gd name="adj" fmla="val 38090"/>
            </a:avLst>
          </a:prstGeom>
          <a:noFill/>
          <a:ln w="6350">
            <a:solidFill>
              <a:srgbClr val="84C1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69918" y="723106"/>
            <a:ext cx="1749778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PREPROCESSING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574" y="1048544"/>
            <a:ext cx="7381194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Feature Scaling — StandardScaler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61574" y="1809750"/>
            <a:ext cx="10868547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StandardScaler standardizes each continuous feature to mean 0 and standard deviation 1 (z = (x − μ) / σ), mapping it onto the standard normal distribution.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525" y="2499122"/>
            <a:ext cx="5376728" cy="176996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07829" y="2688233"/>
            <a:ext cx="2126403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Why use it?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07829" y="3045718"/>
            <a:ext cx="4922317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Features with different ranges and units can bias scale-sensitive algorithms (KNN, SVM, Logistic Regression, Neural Networks). Scaling ensures all features contribute equally by putting them on a </a:t>
            </a:r>
            <a:r>
              <a:rPr lang="en-US" sz="13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comparable scale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3294" y="2499122"/>
            <a:ext cx="5376827" cy="176996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18598" y="2688233"/>
            <a:ext cx="2126403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Scope of application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6418598" y="3045718"/>
            <a:ext cx="4922417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Applied exclusively to </a:t>
            </a:r>
            <a:r>
              <a:rPr lang="en-US" sz="13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continuous numerical features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Binary flags and one-hot encoded columns are intentionally left unchanged, preserving their intrinsic categorical meaning.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525" y="4422180"/>
            <a:ext cx="5376728" cy="176996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07829" y="4611291"/>
            <a:ext cx="3482193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Critical Rule: Prevent Data Leakage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907829" y="4968776"/>
            <a:ext cx="4922317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scaler must be fit </a:t>
            </a:r>
            <a:r>
              <a:rPr lang="en-US" sz="1300" u="sng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only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on the training set. This fitted scaler is then used to transform </a:t>
            </a:r>
            <a:r>
              <a:rPr lang="en-US" sz="1300" b="1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both the training and test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data, preventing information from the test set from influencing the training process.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3294" y="4422180"/>
            <a:ext cx="5376827" cy="176996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18598" y="4611291"/>
            <a:ext cx="274521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Note on Tree-Based Models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6418598" y="4968776"/>
            <a:ext cx="4922417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Tree-based models (Random Forest, XGBoost, CatBoost) are </a:t>
            </a:r>
            <a:r>
              <a:rPr lang="en-US" sz="13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scale-invariant</a:t>
            </a:r>
            <a:r>
              <a:rPr lang="en-US" sz="13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and can perform well on unscaled data. For this project, they were evaluated using both scaled and unscaled features for completeness.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519807"/>
            <a:ext cx="1314417" cy="299045"/>
          </a:xfrm>
          <a:prstGeom prst="roundRect">
            <a:avLst>
              <a:gd name="adj" fmla="val 38683"/>
            </a:avLst>
          </a:prstGeom>
          <a:noFill/>
          <a:ln w="6350">
            <a:solidFill>
              <a:srgbClr val="84C1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64263" y="574278"/>
            <a:ext cx="1718624" cy="190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MODEL TRAINING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574" y="873423"/>
            <a:ext cx="8140992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8 Classifiers, GridSearchCV &amp; ROC-AUC</a:t>
            </a:r>
            <a:endParaRPr lang="en-US" sz="3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74" y="1733848"/>
            <a:ext cx="4452528" cy="4452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98149" y="2750245"/>
            <a:ext cx="26178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Training Setup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298149" y="3137793"/>
            <a:ext cx="5238321" cy="808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Scoring:</a:t>
            </a: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ROC-AUC (robust to class imbalance)</a:t>
            </a:r>
            <a:endParaRPr lang="en-US" sz="1250" dirty="0"/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CV:</a:t>
            </a: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5-fold StratifiedKFold (preserves class ratio)</a:t>
            </a:r>
            <a:endParaRPr lang="en-US" sz="1250" dirty="0"/>
          </a:p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r>
              <a:rPr lang="en-US" sz="12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Hold-out:</a:t>
            </a: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Test set (~231K rows) touched </a:t>
            </a:r>
            <a:r>
              <a:rPr lang="en-US" sz="12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once</a:t>
            </a: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at the end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298149" y="4082951"/>
            <a:ext cx="26178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Parameter Grids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298149" y="4470499"/>
            <a:ext cx="5238321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Ranging from </a:t>
            </a:r>
            <a:r>
              <a:rPr lang="en-US" sz="12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10 combinations</a:t>
            </a: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(Naive Bayes) to </a:t>
            </a:r>
            <a:r>
              <a:rPr lang="en-US" sz="12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54</a:t>
            </a: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(XGBoost, LightGBM). All models tuned with identical CV strategy for fair comparison.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645418"/>
            <a:ext cx="756326" cy="299045"/>
          </a:xfrm>
          <a:prstGeom prst="roundRect">
            <a:avLst>
              <a:gd name="adj" fmla="val 38683"/>
            </a:avLst>
          </a:prstGeom>
          <a:noFill/>
          <a:ln w="6350">
            <a:solidFill>
              <a:srgbClr val="84C1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64263" y="699889"/>
            <a:ext cx="1160533" cy="190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0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574" y="999034"/>
            <a:ext cx="7863881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Evaluation: Boosting Models Dominate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661574" y="1555651"/>
            <a:ext cx="343149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ROC-AUC Rankings (Test Set)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661574" y="5955804"/>
            <a:ext cx="11478132" cy="256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Best CatBoost params: </a:t>
            </a:r>
            <a:r>
              <a:rPr lang="en-US" sz="12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{depth: 6, iterations: 400, lr: </a:t>
            </a:r>
            <a:r>
              <a:rPr lang="en-US" sz="125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0.2}</a:t>
            </a:r>
            <a:r>
              <a:rPr lang="en-US" sz="125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250" dirty="0"/>
          </a:p>
        </p:txBody>
      </p:sp>
      <p:pic>
        <p:nvPicPr>
          <p:cNvPr id="78" name="Immagine 77" descr="Immagine che contiene testo, schermata, Carattere&#10;&#10;Il contenuto generato dall'IA potrebbe non essere corretto.">
            <a:extLst>
              <a:ext uri="{FF2B5EF4-FFF2-40B4-BE49-F238E27FC236}">
                <a16:creationId xmlns:a16="http://schemas.microsoft.com/office/drawing/2014/main" id="{DB796A18-4EF3-7BEA-7A45-B5D8A8AE5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97639"/>
            <a:ext cx="12192000" cy="286272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634802"/>
            <a:ext cx="827265" cy="236041"/>
          </a:xfrm>
          <a:prstGeom prst="roundRect">
            <a:avLst>
              <a:gd name="adj" fmla="val 40360"/>
            </a:avLst>
          </a:prstGeom>
          <a:noFill/>
          <a:ln w="6350">
            <a:solidFill>
              <a:srgbClr val="84C1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47297" y="680839"/>
            <a:ext cx="1265404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80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EVALUATION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574" y="907852"/>
            <a:ext cx="682657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Final Model — Evaluation on the Test Set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61574" y="1349423"/>
            <a:ext cx="1147813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best model, </a:t>
            </a:r>
            <a:r>
              <a:rPr lang="en-US" sz="1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CatBoost</a:t>
            </a: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is evaluated once on the isolated hold-out test set (~231K rows).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193472" y="4481795"/>
            <a:ext cx="2481895" cy="436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0.73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1607502" y="4875907"/>
            <a:ext cx="165383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ROC-AUC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854850" y="4481795"/>
            <a:ext cx="2481895" cy="436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0.68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5268880" y="4875907"/>
            <a:ext cx="165383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8516228" y="4479676"/>
            <a:ext cx="2481994" cy="436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4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0.63</a:t>
            </a:r>
            <a:endParaRPr lang="en-US" sz="3400" dirty="0"/>
          </a:p>
        </p:txBody>
      </p:sp>
      <p:sp>
        <p:nvSpPr>
          <p:cNvPr id="13" name="Text 9"/>
          <p:cNvSpPr/>
          <p:nvPr/>
        </p:nvSpPr>
        <p:spPr>
          <a:xfrm>
            <a:off x="8930258" y="4875907"/>
            <a:ext cx="1653836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Recall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61574" y="5186759"/>
            <a:ext cx="10868547" cy="572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13000"/>
              </a:lnSpc>
              <a:buSzPct val="100000"/>
              <a:buChar char="•"/>
            </a:pP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61574" y="5863233"/>
            <a:ext cx="10868547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      </a:t>
            </a:r>
            <a:r>
              <a:rPr lang="en-US" sz="1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Takeaway:</a:t>
            </a: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Performance is modest but clearly above random (AUC 0.50); the minority "no diabetes" class is the harder one to capture</a:t>
            </a:r>
            <a:endParaRPr lang="en-US" sz="1000" dirty="0"/>
          </a:p>
        </p:txBody>
      </p:sp>
      <p:pic>
        <p:nvPicPr>
          <p:cNvPr id="17" name="Immagine 16" descr="Immagine che contiene testo, schermata, linea, diagramma&#10;&#10;Il contenuto generato dall'IA potrebbe non essere corretto.">
            <a:extLst>
              <a:ext uri="{FF2B5EF4-FFF2-40B4-BE49-F238E27FC236}">
                <a16:creationId xmlns:a16="http://schemas.microsoft.com/office/drawing/2014/main" id="{5A0C68A2-AEDB-15D3-DB34-237D18886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6991" y="1529406"/>
            <a:ext cx="3520762" cy="2825303"/>
          </a:xfrm>
          <a:prstGeom prst="rect">
            <a:avLst/>
          </a:prstGeom>
        </p:spPr>
      </p:pic>
      <p:pic>
        <p:nvPicPr>
          <p:cNvPr id="23" name="Immagine 22" descr="Immagine che contiene testo, schermata, diagramma, Carattere&#10;&#10;Il contenuto generato dall'IA potrebbe non essere corretto.">
            <a:extLst>
              <a:ext uri="{FF2B5EF4-FFF2-40B4-BE49-F238E27FC236}">
                <a16:creationId xmlns:a16="http://schemas.microsoft.com/office/drawing/2014/main" id="{4DC9DF0D-73DF-2746-DFBB-104908F457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9646" y="1592948"/>
            <a:ext cx="3390365" cy="282530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574" y="1678781"/>
            <a:ext cx="1071933" cy="277515"/>
          </a:xfrm>
          <a:prstGeom prst="roundRect">
            <a:avLst>
              <a:gd name="adj" fmla="val 39232"/>
            </a:avLst>
          </a:prstGeom>
          <a:noFill/>
          <a:ln w="6350">
            <a:solidFill>
              <a:srgbClr val="84C1F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758608" y="1730474"/>
            <a:ext cx="148745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CONCLUSIONS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574" y="2004616"/>
            <a:ext cx="4389923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Key Takeaways</a:t>
            </a:r>
            <a:endParaRPr lang="en-US" sz="2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525" y="2658467"/>
            <a:ext cx="5392801" cy="13023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8978" y="2828727"/>
            <a:ext cx="189016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Best Model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88978" y="3137495"/>
            <a:ext cx="4976093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CatBoostClassifier</a:t>
            </a: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achieved </a:t>
            </a:r>
            <a:r>
              <a:rPr lang="en-US" sz="11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ROC-AUC = 0.726</a:t>
            </a: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modest but well above random (0.50), consistent with weak per-feature correlations found in EDA.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37221" y="2658467"/>
            <a:ext cx="5392900" cy="130234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83674" y="2828727"/>
            <a:ext cx="189016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Boosting Wins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383674" y="3137495"/>
            <a:ext cx="4976192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CatBoost, LightGBM, and XGBoost clustered tightly at </a:t>
            </a:r>
            <a:r>
              <a:rPr lang="en-US" sz="11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0.725–0.726</a:t>
            </a: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clearly outperforming all other approaches.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2525" y="4081760"/>
            <a:ext cx="5392801" cy="109735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88978" y="4252020"/>
            <a:ext cx="2476240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No Class Weighting Needed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888978" y="4560788"/>
            <a:ext cx="4976093" cy="448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Top models used </a:t>
            </a:r>
            <a:r>
              <a:rPr lang="en-US" sz="11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auto_class_weights: None</a:t>
            </a: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stratification alone handled the mild imbalance.</a:t>
            </a:r>
            <a:endParaRPr lang="en-US" sz="11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37221" y="4081760"/>
            <a:ext cx="5392900" cy="109735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83674" y="4252020"/>
            <a:ext cx="1890169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Scaling Matters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6383674" y="4560788"/>
            <a:ext cx="4976192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StandardScaler consistently outperformed RobustScaler and no-scaling, though differences were small for tree-based models.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1392</Words>
  <Application>Microsoft Office PowerPoint</Application>
  <PresentationFormat>Widescreen</PresentationFormat>
  <Paragraphs>159</Paragraphs>
  <Slides>15</Slides>
  <Notes>15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1" baseType="lpstr">
      <vt:lpstr>Instrument Sans Medium</vt:lpstr>
      <vt:lpstr>Instrument Sans Light</vt:lpstr>
      <vt:lpstr>Consolas</vt:lpstr>
      <vt:lpstr>Instrument Sans SemiBold</vt:lpstr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Lorenzo Sansone</cp:lastModifiedBy>
  <cp:revision>9</cp:revision>
  <dcterms:created xsi:type="dcterms:W3CDTF">2026-06-14T18:08:12Z</dcterms:created>
  <dcterms:modified xsi:type="dcterms:W3CDTF">2026-07-09T08:39:12Z</dcterms:modified>
</cp:coreProperties>
</file>