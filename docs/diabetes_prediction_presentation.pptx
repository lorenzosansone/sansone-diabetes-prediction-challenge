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Instrument Sans Medium" panose="020B0604020202020204" charset="0"/>
      <p:regular r:id="rId22"/>
    </p:embeddedFont>
    <p:embeddedFont>
      <p:font typeface="Instrument Sans Semi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713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23170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Diabetes Prediction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897287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 complete machine learning pipeline for predicting diabetes diagnosis probability from patient health indicators — covering exploratory analysis, preprocessing, model training, and evaluation.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61475" y="4017169"/>
            <a:ext cx="4048123" cy="355203"/>
          </a:xfrm>
          <a:prstGeom prst="roundRect">
            <a:avLst>
              <a:gd name="adj" fmla="val 38314"/>
            </a:avLst>
          </a:prstGeom>
          <a:solidFill>
            <a:srgbClr val="CEE6F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774879" y="4073823"/>
            <a:ext cx="4430899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KAGGLE COMPETITION · PLAYGROUND SERIES S5E12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61475" y="4466828"/>
            <a:ext cx="4555713" cy="367903"/>
          </a:xfrm>
          <a:prstGeom prst="roundRect">
            <a:avLst>
              <a:gd name="adj" fmla="val 3699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81229" y="4529832"/>
            <a:ext cx="4925790" cy="241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SANSONE LORENZO · UNIVERSITY OF BOLOGNA ·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54633"/>
            <a:ext cx="936006" cy="315119"/>
          </a:xfrm>
          <a:prstGeom prst="roundRect">
            <a:avLst>
              <a:gd name="adj" fmla="val 3826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53260" y="611188"/>
            <a:ext cx="1332078" cy="202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46503" y="929084"/>
            <a:ext cx="4796015" cy="523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Objective &amp; Dataset</a:t>
            </a:r>
            <a:endParaRPr lang="en-US" sz="3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503" y="2252266"/>
            <a:ext cx="6129978" cy="3473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2523" y="1823244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Goal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72523" y="2233216"/>
            <a:ext cx="3478919" cy="1029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Predict the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probability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of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diagnosed_diabetes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for each patient. Primary metric: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(Area Under the ROC Curve).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72523" y="3411041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 Source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72523" y="3821013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Synthetically generated from the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Diabetes Health Indicators Dataset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realistic distributions, privacy-preserving.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72523" y="4727178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Files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72523" y="5137151"/>
            <a:ext cx="3478919" cy="340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train.csv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700,000 rows, 26 columns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567333"/>
            <a:ext cx="773093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764164" y="621804"/>
            <a:ext cx="1177300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PIPELINE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61475" y="920948"/>
            <a:ext cx="4626157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Full ML Workflow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661475" y="162778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1881684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61475" y="2000052"/>
            <a:ext cx="301071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Exploratory Analysis &amp; Cleaning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2332930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Understand distributions, detect outliers, check class balance, correlations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61475" y="2827635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1475" y="3081536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661475" y="3199904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Preprocessing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1475" y="3532783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Encode categoricals, scale continuous features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61475" y="4027488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61475" y="4281388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661475" y="4399756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Model Training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61475" y="4732635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GridSearchCV with 5-fold StratifiedKFold across 8 classifiers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1475" y="5227340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1475" y="5481241"/>
            <a:ext cx="6296860" cy="19050"/>
          </a:xfrm>
          <a:prstGeom prst="rect">
            <a:avLst/>
          </a:prstGeom>
          <a:solidFill>
            <a:srgbClr val="84C1F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61475" y="5599609"/>
            <a:ext cx="238555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Evaluation &amp; Comparison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61475" y="5932488"/>
            <a:ext cx="629686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 on isolated hold-out test set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69516"/>
            <a:ext cx="1690546" cy="360462"/>
          </a:xfrm>
          <a:prstGeom prst="roundRect">
            <a:avLst>
              <a:gd name="adj" fmla="val 37165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64471" y="631627"/>
            <a:ext cx="206419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46503" y="1003201"/>
            <a:ext cx="5261141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Dataset at a Glance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746503" y="1952327"/>
            <a:ext cx="5234849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700K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01014" y="2796679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6503" y="3197225"/>
            <a:ext cx="52348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Synthetic patient profiles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10244" y="1952327"/>
            <a:ext cx="5234948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24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664854" y="2796679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Features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0244" y="3197225"/>
            <a:ext cx="52349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 domains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6503" y="3951784"/>
            <a:ext cx="5234849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01014" y="4796135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Missing Values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6503" y="5196681"/>
            <a:ext cx="52348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Clean dataset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10244" y="3951784"/>
            <a:ext cx="5234948" cy="614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62%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7664854" y="4796135"/>
            <a:ext cx="2325729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Positive Class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0244" y="5196681"/>
            <a:ext cx="523494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Mildly imbalanced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6503" y="5697934"/>
            <a:ext cx="1069868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Features span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clinical measurements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(BMI, blood pressure, cholesterol, …),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lifestyle habits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(diet, activity, sleep, …),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demographics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(age, ethnicity, income, …) and </a:t>
            </a:r>
            <a:r>
              <a:rPr lang="en-US" sz="14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medical history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(family diabetes, hypertension, cardiovascular, …).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5992"/>
            <a:ext cx="1631215" cy="344289"/>
          </a:xfrm>
          <a:prstGeom prst="roundRect">
            <a:avLst>
              <a:gd name="adj" fmla="val 3755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75574" y="696119"/>
            <a:ext cx="2012800" cy="224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574" y="1048445"/>
            <a:ext cx="8035029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Target Distribution &amp; Class Balance</a:t>
            </a:r>
            <a:endParaRPr lang="en-US" sz="3500" dirty="0"/>
          </a:p>
        </p:txBody>
      </p:sp>
      <p:sp>
        <p:nvSpPr>
          <p:cNvPr id="6" name="Text 3"/>
          <p:cNvSpPr/>
          <p:nvPr/>
        </p:nvSpPr>
        <p:spPr>
          <a:xfrm>
            <a:off x="8017270" y="2036068"/>
            <a:ext cx="285415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Class Proportions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017270" y="2487116"/>
            <a:ext cx="3519201" cy="2114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62.33%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diagnosed with diabetes (positive class) vs </a:t>
            </a: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37.67%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without. Positive/negative ratio: </a:t>
            </a: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1.65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target is </a:t>
            </a:r>
            <a:r>
              <a:rPr lang="en-US" sz="14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mildly imbalanced</a:t>
            </a: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stratified splits and class-weighting were considered, but stratification alone proved sufficient.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17270" y="4793159"/>
            <a:ext cx="3519201" cy="1236960"/>
          </a:xfrm>
          <a:prstGeom prst="roundRect">
            <a:avLst>
              <a:gd name="adj" fmla="val 13065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752" y="5063629"/>
            <a:ext cx="224427" cy="1794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00661" y="4991497"/>
            <a:ext cx="2756327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duplicate rows detected. Zero NaN values across all 26 columns.</a:t>
            </a:r>
            <a:endParaRPr lang="en-US" sz="1400" dirty="0"/>
          </a:p>
        </p:txBody>
      </p:sp>
      <p:pic>
        <p:nvPicPr>
          <p:cNvPr id="14" name="Immagine 13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B9F983C-1A53-FFB0-944E-D8B9F4245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74" y="2045356"/>
            <a:ext cx="7527713" cy="25843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19807"/>
            <a:ext cx="1354997" cy="272256"/>
          </a:xfrm>
          <a:prstGeom prst="roundRect">
            <a:avLst>
              <a:gd name="adj" fmla="val 39365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42148" y="570805"/>
            <a:ext cx="1773292" cy="170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6503" y="838895"/>
            <a:ext cx="636581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Numerical Features Distributions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46503" y="1479848"/>
            <a:ext cx="10698689" cy="42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understand the intrinsic shape, symmetry, and potential anomalies of our continuous features, a histogram with a Kernel Density Estimate (KDE) was plotted for each of the 14 numerical variables, using 40 bins.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737938" y="2027376"/>
            <a:ext cx="2470187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Observations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737938" y="2377023"/>
            <a:ext cx="3508486" cy="3216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Most clinical features (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bmi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systolic_bp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heart_rate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cholesterol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metrics) exhibit a roughly bell-shaped, near-Gaussian distribution.</a:t>
            </a:r>
            <a:endParaRPr lang="en-US" sz="1150" dirty="0"/>
          </a:p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is distinctly right-skewed with a prominent long tail, indicating a few patients with exceptionally high activity levels.</a:t>
            </a:r>
            <a:endParaRPr lang="en-US" sz="1150" dirty="0"/>
          </a:p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diet_score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sleep_hours_per_day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screen_time_hours_per_day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generally appear symmetric.</a:t>
            </a:r>
            <a:endParaRPr lang="en-US" sz="1150" dirty="0"/>
          </a:p>
          <a:p>
            <a:pPr marL="342900" indent="-342900" algn="l">
              <a:lnSpc>
                <a:spcPct val="119000"/>
              </a:lnSpc>
              <a:buSzPct val="100000"/>
              <a:buChar char="•"/>
            </a:pP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spans a wide range from 19 to 89 years, with a relatively uniform distribution across adult age groups.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6503" y="5893792"/>
            <a:ext cx="10698689" cy="444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</a:t>
            </a: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The majority of features are mostly well-behaved and near-Gaussian, which supports the effectiveness of StandardScaler for preprocessing.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remains the main exception, echoing its significance in outlier analysis.     </a:t>
            </a:r>
            <a:endParaRPr lang="en-US" sz="1150" dirty="0"/>
          </a:p>
        </p:txBody>
      </p:sp>
      <p:pic>
        <p:nvPicPr>
          <p:cNvPr id="23" name="Immagine 22" descr="Immagine che contiene schizzo, diagramma&#10;&#10;Il contenuto generato dall'IA potrebbe non essere corretto.">
            <a:extLst>
              <a:ext uri="{FF2B5EF4-FFF2-40B4-BE49-F238E27FC236}">
                <a16:creationId xmlns:a16="http://schemas.microsoft.com/office/drawing/2014/main" id="{0D98F7CD-A7F4-1708-DBAE-DD5E987EB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0" y="2023353"/>
            <a:ext cx="3699459" cy="369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552252"/>
            <a:ext cx="1546186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9918" y="609600"/>
            <a:ext cx="1939083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935038"/>
            <a:ext cx="6196056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Outlier Detection (IQR Rule)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696244"/>
            <a:ext cx="11478132" cy="264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Outliers are flagged using the IQR rule: points falling outside [Q1 - 1.5 * IQR, Q3 + 1.5 * IQR].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47690" y="2041208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Observations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4547690" y="2390301"/>
            <a:ext cx="3534282" cy="2444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Heavy upper tails: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Pronounced in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physical_activity_minutes_per_week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(max value 747, far exceeding IQR upper bound),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triglycerides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cholesterol_total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ldl_cholesterol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systolic_bp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bmi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Two-sided tails: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Features like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hdl_cholesterol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waist_to_hip_ratio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and </a:t>
            </a: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heart_rate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exhibit significant outliers on both the lower and upper bounds.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1574" y="5788620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This highlights the necessity of feature scaling for linear models (SVM, KNN), which are highly sensitive to extreme values. Tree-based models (Random Forest, XGBoost, CatBoost) are inherently more robust to outliers.</a:t>
            </a:r>
            <a:endParaRPr lang="en-US" sz="1300" dirty="0"/>
          </a:p>
        </p:txBody>
      </p:sp>
      <p:pic>
        <p:nvPicPr>
          <p:cNvPr id="15" name="Immagine 14" descr="Immagine che contiene diagramma, Rettangolo, testo, Parallelo&#10;&#10;Il contenuto generato dall'IA potrebbe non essere corretto.">
            <a:extLst>
              <a:ext uri="{FF2B5EF4-FFF2-40B4-BE49-F238E27FC236}">
                <a16:creationId xmlns:a16="http://schemas.microsoft.com/office/drawing/2014/main" id="{F424E213-0AB2-3933-591F-9A5B3E59F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8" y="2035599"/>
            <a:ext cx="3685463" cy="36854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6503" y="569317"/>
            <a:ext cx="1521680" cy="315119"/>
          </a:xfrm>
          <a:prstGeom prst="roundRect">
            <a:avLst>
              <a:gd name="adj" fmla="val 3826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853260" y="625872"/>
            <a:ext cx="1917751" cy="202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DATA EXPLORATION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46503" y="943769"/>
            <a:ext cx="5155972" cy="523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Correlation with Target</a:t>
            </a:r>
            <a:endParaRPr lang="en-US" sz="3250" dirty="0"/>
          </a:p>
        </p:txBody>
      </p:sp>
      <p:sp>
        <p:nvSpPr>
          <p:cNvPr id="6" name="Text 3"/>
          <p:cNvSpPr/>
          <p:nvPr/>
        </p:nvSpPr>
        <p:spPr>
          <a:xfrm>
            <a:off x="7972523" y="1837928"/>
            <a:ext cx="2702750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Insights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72523" y="2247900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All per-feature correlations are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weak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no single feature is a strong standalone predictor.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72523" y="3139182"/>
            <a:ext cx="3478919" cy="2124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positive: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family_history_diabetes (r=0.21), age (r=0.16), systolic_bp, BMI, LDL</a:t>
            </a:r>
            <a:endParaRPr lang="en-US" sz="1300" dirty="0"/>
          </a:p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negative: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physical_activity_minutes_per_week (r=−0.17), HDL, diet_score</a:t>
            </a:r>
            <a:endParaRPr lang="en-US" sz="1300" dirty="0"/>
          </a:p>
          <a:p>
            <a:pPr marL="342900" indent="-34290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Near-zero: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sleep_hours_per_day, alcohol_consumption_per_week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972523" y="5397302"/>
            <a:ext cx="3478919" cy="757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This explains the modest final ROC-AUC — the signal is distributed across many weak features.</a:t>
            </a:r>
            <a:endParaRPr lang="en-US" sz="1300" dirty="0"/>
          </a:p>
        </p:txBody>
      </p:sp>
      <p:pic>
        <p:nvPicPr>
          <p:cNvPr id="109" name="Immagine 108" descr="Immagine che contiene testo, schermat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896A3AEE-9A9B-D4E5-67F6-548273B05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260" y="1622290"/>
            <a:ext cx="6157140" cy="51817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56233"/>
            <a:ext cx="1282370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4263" y="710704"/>
            <a:ext cx="1686577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1009848"/>
            <a:ext cx="7846122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From Raw Data to Model-Ready Matrix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716683"/>
            <a:ext cx="803255" cy="9640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1351" y="1877318"/>
            <a:ext cx="308403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Drop ID + Target (for training set)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601351" y="2210197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Remove non-predictive row identifier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74" y="2680692"/>
            <a:ext cx="803255" cy="9640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1351" y="2841327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Encode Categoricals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1601351" y="3174206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Ordinal for education &amp; income; one-hot for gender, ethnicity, smoking, employment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74" y="3644702"/>
            <a:ext cx="803255" cy="9640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01351" y="3805337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Split Data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1601351" y="4138216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67% train / 33% test, stratified</a:t>
            </a:r>
            <a:endParaRPr lang="en-US" sz="12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74" y="4608711"/>
            <a:ext cx="803255" cy="96400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1351" y="4769346"/>
            <a:ext cx="2008236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Scale Features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1601351" y="5102225"/>
            <a:ext cx="9928770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on continuous features (mean=0, std=1)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61574" y="5726311"/>
            <a:ext cx="10868547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 matrix expanded from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 → 35 columns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after one-hot encoding. StandardScaler outperformed RobustScaler and no-scaling in validation tests.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8274"/>
            <a:ext cx="1356882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9918" y="695623"/>
            <a:ext cx="1749778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1021060"/>
            <a:ext cx="7245070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Encoding of Categorical Features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782266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 prepare categorical features for machine learning models, three distinct encoding strategies were applied based on the variable's nature.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1574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Ordinal Encoding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61574" y="3043535"/>
            <a:ext cx="33085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For variables with an inherent, meaningful order, ordinal encoding was used to preserve their ranking information.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574" y="3956943"/>
            <a:ext cx="3308565" cy="11132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education_level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No formal &lt; Highschool &lt; Graduate &lt; Postgraduate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income_level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Low &lt; Lower-Middle &lt; Middle &lt; Upper-Middle &lt; High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91411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One-Hot Encoding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391411" y="3043535"/>
            <a:ext cx="3421374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Purely nominal variables, where no natural order exists, were converted into binary (0/1) columns.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91411" y="3956943"/>
            <a:ext cx="3421374" cy="1245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gender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ethnicity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smoking_status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employment_status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34057" y="2624733"/>
            <a:ext cx="273598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 Encoding Needed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34057" y="3043535"/>
            <a:ext cx="33085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Binary flags, already represented as 0s and 1s, required no further transformation.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34057" y="3956943"/>
            <a:ext cx="3308565" cy="920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family_history_diabetes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hypertension_history</a:t>
            </a:r>
            <a:endParaRPr lang="en-US" sz="130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cardiovascular_history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1574" y="5428555"/>
            <a:ext cx="10868547" cy="618927"/>
          </a:xfrm>
          <a:prstGeom prst="roundRect">
            <a:avLst>
              <a:gd name="adj" fmla="val 24737"/>
            </a:avLst>
          </a:prstGeom>
          <a:solidFill>
            <a:srgbClr val="B5DAFC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31" y="5663704"/>
            <a:ext cx="212620" cy="170061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4308" y="5608737"/>
            <a:ext cx="10755341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one-hot encoding process expanded the feature matrix from </a:t>
            </a: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24 raw features</a:t>
            </a: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to </a:t>
            </a: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35 columns</a:t>
            </a:r>
            <a:r>
              <a:rPr lang="en-US" sz="13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65758"/>
            <a:ext cx="1356882" cy="321568"/>
          </a:xfrm>
          <a:prstGeom prst="roundRect">
            <a:avLst>
              <a:gd name="adj" fmla="val 3809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9918" y="723106"/>
            <a:ext cx="1749778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PREPROCESSING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574" y="1048544"/>
            <a:ext cx="7381194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Feature Scaling — StandardScaler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61574" y="1809750"/>
            <a:ext cx="10868547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standardizes each continuous feature to mean 0 and standard deviation 1 (z = (x − μ) / σ), mapping it onto the standard normal distribution.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525" y="2499122"/>
            <a:ext cx="5376728" cy="176996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07829" y="2688233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Why use it?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07829" y="3045718"/>
            <a:ext cx="49223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Features with different ranges and units can bias scale-sensitive algorithms (KNN, SVM, Logistic Regression, Neural Networks). Scaling ensures all features contribute equally by putting them on a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comparable scale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3294" y="2499122"/>
            <a:ext cx="5376827" cy="17699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8598" y="2688233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Scope of application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6418598" y="3045718"/>
            <a:ext cx="4922417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Applied exclusively to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continuous numerical features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 Binary flags and one-hot encoded columns are intentionally left unchanged, preserving their intrinsic categorical meaning.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525" y="4422180"/>
            <a:ext cx="5376728" cy="176996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07829" y="4611291"/>
            <a:ext cx="348219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Critical Rule: Prevent Data Leakage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907829" y="4968776"/>
            <a:ext cx="49223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scaler must be fit </a:t>
            </a:r>
            <a:r>
              <a:rPr lang="en-US" sz="1300" u="sng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only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on the training set. This fitted scaler is then used to transform </a:t>
            </a:r>
            <a:r>
              <a:rPr lang="en-US" sz="1300" b="1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both the training and test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data, preventing information from the test set from influencing the training process.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3294" y="4422180"/>
            <a:ext cx="5376827" cy="176996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18598" y="4611291"/>
            <a:ext cx="274521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Note on Tree-Based Models</a:t>
            </a:r>
            <a:endParaRPr lang="en-US" sz="1650" dirty="0"/>
          </a:p>
        </p:txBody>
      </p:sp>
      <p:sp>
        <p:nvSpPr>
          <p:cNvPr id="17" name="Text 11"/>
          <p:cNvSpPr/>
          <p:nvPr/>
        </p:nvSpPr>
        <p:spPr>
          <a:xfrm>
            <a:off x="6418598" y="4968776"/>
            <a:ext cx="4922417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Tree-based models (Random Forest, XGBoost, CatBoost) are </a:t>
            </a:r>
            <a:r>
              <a:rPr lang="en-US" sz="13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scale-invariant</a:t>
            </a:r>
            <a:r>
              <a:rPr lang="en-US" sz="13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and can perform well on unscaled data. For this project, they were evaluated using both scaled and unscaled features for completeness.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519807"/>
            <a:ext cx="1314417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4263" y="574278"/>
            <a:ext cx="1718624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MODEL TRAINING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873423"/>
            <a:ext cx="8140992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8 Classifiers, GridSearchCV &amp; ROC-AUC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733848"/>
            <a:ext cx="4452528" cy="4452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98149" y="2750245"/>
            <a:ext cx="26178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Training Setup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298149" y="3137793"/>
            <a:ext cx="5238321" cy="8086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Scoring: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ROC-AUC (robust to class imbalance)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CV: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5-fold StratifiedKFold (preserves class ratio)</a:t>
            </a:r>
            <a:endParaRPr lang="en-US" sz="125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Hold-out: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Test set (~231K rows) touched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once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at the end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298149" y="4082951"/>
            <a:ext cx="26178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Parameter Grids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298149" y="4470499"/>
            <a:ext cx="5238321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Ranging from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10 combinations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(Naive Bayes) to </a:t>
            </a:r>
            <a:r>
              <a:rPr lang="en-US" sz="12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54</a:t>
            </a: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(XGBoost, LightGBM). All models tuned with identical CV strategy for fair comparison.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45418"/>
            <a:ext cx="756326" cy="299045"/>
          </a:xfrm>
          <a:prstGeom prst="roundRect">
            <a:avLst>
              <a:gd name="adj" fmla="val 38683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64263" y="699889"/>
            <a:ext cx="1160533" cy="190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574" y="999034"/>
            <a:ext cx="7863881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Evaluation: Boosting Models Dominate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61574" y="1555651"/>
            <a:ext cx="343149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ROC-AUC Rankings (Test Set)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661574" y="5955804"/>
            <a:ext cx="11478132" cy="256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Best CatBoost params: </a:t>
            </a:r>
            <a:r>
              <a:rPr lang="en-US" sz="12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{depth: 6, iterations: 400, lr: </a:t>
            </a:r>
            <a:r>
              <a:rPr lang="en-US" sz="125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0.2}</a:t>
            </a:r>
            <a:r>
              <a:rPr lang="en-US" sz="125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250" dirty="0"/>
          </a:p>
        </p:txBody>
      </p:sp>
      <p:pic>
        <p:nvPicPr>
          <p:cNvPr id="78" name="Immagine 77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B796A18-4EF3-7BEA-7A45-B5D8A8AE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97639"/>
            <a:ext cx="12192000" cy="28627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634802"/>
            <a:ext cx="827265" cy="236041"/>
          </a:xfrm>
          <a:prstGeom prst="roundRect">
            <a:avLst>
              <a:gd name="adj" fmla="val 40360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47297" y="680839"/>
            <a:ext cx="1265404" cy="143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8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EVALUATION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61574" y="907852"/>
            <a:ext cx="682657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Final Model — Evaluation on the Test Set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61574" y="1349423"/>
            <a:ext cx="1147813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The best model, </a:t>
            </a:r>
            <a:r>
              <a:rPr lang="en-US" sz="10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</a:t>
            </a: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is evaluated once on the isolated hold-out test set (~231K rows).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93472" y="4481795"/>
            <a:ext cx="2481895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0.73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1607502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ROC-AUC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854850" y="4481795"/>
            <a:ext cx="2481895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0.68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5268880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516228" y="4479676"/>
            <a:ext cx="2481994" cy="436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0.63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8930258" y="4875907"/>
            <a:ext cx="1653836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Recall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61574" y="5186759"/>
            <a:ext cx="10868547" cy="572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61574" y="5863233"/>
            <a:ext cx="10868547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      </a:t>
            </a:r>
            <a:r>
              <a:rPr lang="en-US" sz="100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Takeaway:</a:t>
            </a: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Performance is modest but clearly above random (AUC 0.50); the minority "no diabetes" class is the harder one to capture</a:t>
            </a:r>
            <a:endParaRPr lang="en-US" sz="1000" dirty="0"/>
          </a:p>
        </p:txBody>
      </p:sp>
      <p:pic>
        <p:nvPicPr>
          <p:cNvPr id="17" name="Immagine 16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A0C68A2-AEDB-15D3-DB34-237D18886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991" y="1529406"/>
            <a:ext cx="3520762" cy="2825303"/>
          </a:xfrm>
          <a:prstGeom prst="rect">
            <a:avLst/>
          </a:prstGeom>
        </p:spPr>
      </p:pic>
      <p:pic>
        <p:nvPicPr>
          <p:cNvPr id="23" name="Immagine 22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DC9DF0D-73DF-2746-DFBB-104908F45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646" y="1592948"/>
            <a:ext cx="3390365" cy="28253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574" y="1678781"/>
            <a:ext cx="1071933" cy="277515"/>
          </a:xfrm>
          <a:prstGeom prst="roundRect">
            <a:avLst>
              <a:gd name="adj" fmla="val 39232"/>
            </a:avLst>
          </a:prstGeom>
          <a:noFill/>
          <a:ln w="6350">
            <a:solidFill>
              <a:srgbClr val="84C1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58608" y="1730474"/>
            <a:ext cx="1487450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CONCLUSIONS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61574" y="2004616"/>
            <a:ext cx="4389923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Key Takeaways</a:t>
            </a:r>
            <a:endParaRPr lang="en-US" sz="2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525" y="2658467"/>
            <a:ext cx="5392801" cy="13023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8978" y="2828727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Best Model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978" y="3137495"/>
            <a:ext cx="4976093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CatBoostClassifier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achieved </a:t>
            </a: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ROC-AUC = 0.726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modest but well above random (0.50), consistent with weak per-feature correlations found in EDA.</a:t>
            </a:r>
            <a:endParaRPr lang="en-US" sz="11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7221" y="2658467"/>
            <a:ext cx="5392900" cy="130234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83674" y="2828727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Boosting Wins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6383674" y="3137495"/>
            <a:ext cx="497619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CatBoost, LightGBM, and XGBoost clustered tightly at </a:t>
            </a:r>
            <a:r>
              <a:rPr lang="en-US" sz="1150" b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0.725–0.726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clearly outperforming all other approaches.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525" y="4081760"/>
            <a:ext cx="5392801" cy="109735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88978" y="4252020"/>
            <a:ext cx="2476240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No Class Weighting Needed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888978" y="4560788"/>
            <a:ext cx="4976093" cy="448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Top models used </a:t>
            </a:r>
            <a:r>
              <a:rPr lang="en-US" sz="1150" dirty="0">
                <a:solidFill>
                  <a:srgbClr val="1E306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auto_class_weights: None</a:t>
            </a: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— stratification alone handled the mild imbalance.</a:t>
            </a:r>
            <a:endParaRPr lang="en-US" sz="11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37221" y="4081760"/>
            <a:ext cx="5392900" cy="109735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83674" y="4252020"/>
            <a:ext cx="189016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Scaling Matters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383674" y="4560788"/>
            <a:ext cx="497619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StandardScaler consistently outperformed RobustScaler and no-scaling, though differences were small for tree-based models.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1397</Words>
  <Application>Microsoft Office PowerPoint</Application>
  <PresentationFormat>Widescreen</PresentationFormat>
  <Paragraphs>159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1" baseType="lpstr">
      <vt:lpstr>Instrument Sans Medium</vt:lpstr>
      <vt:lpstr>Consolas</vt:lpstr>
      <vt:lpstr>Instrument Sans SemiBold</vt:lpstr>
      <vt:lpstr>Instrument Sans Light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Lorenzo Sansone</cp:lastModifiedBy>
  <cp:revision>7</cp:revision>
  <dcterms:created xsi:type="dcterms:W3CDTF">2026-06-14T18:08:12Z</dcterms:created>
  <dcterms:modified xsi:type="dcterms:W3CDTF">2026-06-17T15:59:49Z</dcterms:modified>
</cp:coreProperties>
</file>