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embeddedFontLst>
    <p:embeddedFont>
      <p:font typeface="Instrument Sans SemiBold"/>
      <p:regular r:id="rId201314"/>
    </p:embeddedFont>
    <p:embeddedFont>
      <p:font typeface="Instrument Sans Medium"/>
      <p:regular r:id="rId201315"/>
    </p:embeddedFont>
    <p:embeddedFont>
      <p:font typeface="Instrument Sans Bold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023170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Diabetes Prediction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897287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 complete machine learning pipeline for predicting diabetes diagnosis probability from patient health indicators — covering exploratory analysis, preprocessing, model training, and evaluation.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661475" y="4017169"/>
            <a:ext cx="4048123" cy="355203"/>
          </a:xfrm>
          <a:prstGeom prst="roundRect">
            <a:avLst>
              <a:gd name="adj" fmla="val 38314"/>
            </a:avLst>
          </a:prstGeom>
          <a:solidFill>
            <a:srgbClr val="CEE6FD"/>
          </a:solidFill>
          <a:ln/>
        </p:spPr>
      </p:sp>
      <p:sp>
        <p:nvSpPr>
          <p:cNvPr id="6" name="Text 3"/>
          <p:cNvSpPr/>
          <p:nvPr/>
        </p:nvSpPr>
        <p:spPr>
          <a:xfrm>
            <a:off x="774879" y="4073823"/>
            <a:ext cx="4430899" cy="241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KAGGLE COMPETITION · PLAYGROUND SERIES S5E12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61475" y="4466828"/>
            <a:ext cx="4555713" cy="367903"/>
          </a:xfrm>
          <a:prstGeom prst="roundRect">
            <a:avLst>
              <a:gd name="adj" fmla="val 36992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1229" y="4529832"/>
            <a:ext cx="4925790" cy="241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SANSONE LORENZO · UNIVERSITY OF BOLOGNA ·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54633"/>
            <a:ext cx="936006" cy="315119"/>
          </a:xfrm>
          <a:prstGeom prst="roundRect">
            <a:avLst>
              <a:gd name="adj" fmla="val 38262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3260" y="611188"/>
            <a:ext cx="1332078" cy="2020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46503" y="929084"/>
            <a:ext cx="4796015" cy="523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Objective &amp; Dataset</a:t>
            </a:r>
            <a:endParaRPr lang="en-US" sz="32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03" y="2252266"/>
            <a:ext cx="6129978" cy="34736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72523" y="1823244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Goal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972523" y="2233216"/>
            <a:ext cx="3478919" cy="10294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Predict the </a:t>
            </a:r>
            <a:pPr algn="l"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probability</a:t>
            </a:r>
            <a:pPr algn="l"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of </a:t>
            </a:r>
            <a:pPr algn="l"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diagnosed_diabetes</a:t>
            </a:r>
            <a:pPr algn="l"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for each patient. Primary metric: </a:t>
            </a:r>
            <a:pPr algn="l"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ROC-AUC</a:t>
            </a:r>
            <a:pPr algn="l"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(Area Under the ROC Curve).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972523" y="3411041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Data Source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72523" y="3821013"/>
            <a:ext cx="3478919" cy="757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Synthetically generated from the </a:t>
            </a:r>
            <a:pPr algn="l"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Diabetes Health Indicators Dataset</a:t>
            </a:r>
            <a:pPr algn="l"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realistic distributions, privacy-preserving.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72523" y="4727178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Files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972523" y="5137150"/>
            <a:ext cx="3478919" cy="1114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train.csv</a:t>
            </a:r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700,000 rows, 26 columns</a:t>
            </a:r>
            <a:endParaRPr lang="en-US" sz="1300" dirty="0"/>
          </a:p>
          <a:p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test.csv</a:t>
            </a:r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features only</a:t>
            </a:r>
            <a:endParaRPr lang="en-US" sz="1300" dirty="0"/>
          </a:p>
          <a:p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sample_submission.csv</a:t>
            </a:r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expected output format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567333"/>
            <a:ext cx="773093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4164" y="621804"/>
            <a:ext cx="1177300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PIPELINE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61475" y="920948"/>
            <a:ext cx="4626157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Full ML Workflow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661475" y="162778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1881684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</p:sp>
      <p:sp>
        <p:nvSpPr>
          <p:cNvPr id="8" name="Text 5"/>
          <p:cNvSpPr/>
          <p:nvPr/>
        </p:nvSpPr>
        <p:spPr>
          <a:xfrm>
            <a:off x="661475" y="2000052"/>
            <a:ext cx="301071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Exploratory Analysis &amp; Cleaning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61475" y="2332930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Understand distributions, detect outliers, check class balance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61475" y="2827635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1475" y="3081536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</p:sp>
      <p:sp>
        <p:nvSpPr>
          <p:cNvPr id="12" name="Text 9"/>
          <p:cNvSpPr/>
          <p:nvPr/>
        </p:nvSpPr>
        <p:spPr>
          <a:xfrm>
            <a:off x="661475" y="3199904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Preprocessing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61475" y="3532783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Encode categoricals, scale continuous features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61475" y="4027488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61475" y="4281388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</p:sp>
      <p:sp>
        <p:nvSpPr>
          <p:cNvPr id="16" name="Text 13"/>
          <p:cNvSpPr/>
          <p:nvPr/>
        </p:nvSpPr>
        <p:spPr>
          <a:xfrm>
            <a:off x="661475" y="4399756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Model Training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661475" y="4732635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GridSearchCV with 5-fold StratifiedKFold across 8 classifiers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1475" y="5227340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1475" y="5481241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</p:sp>
      <p:sp>
        <p:nvSpPr>
          <p:cNvPr id="20" name="Text 17"/>
          <p:cNvSpPr/>
          <p:nvPr/>
        </p:nvSpPr>
        <p:spPr>
          <a:xfrm>
            <a:off x="661475" y="5599609"/>
            <a:ext cx="238555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Evaluation &amp; Comparison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61475" y="5932488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ROC-AUC on isolated hold-out test set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69516"/>
            <a:ext cx="1690546" cy="360462"/>
          </a:xfrm>
          <a:prstGeom prst="roundRect">
            <a:avLst>
              <a:gd name="adj" fmla="val 37165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64471" y="631627"/>
            <a:ext cx="206419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46503" y="1003201"/>
            <a:ext cx="5261141" cy="581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Dataset at a Glance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746503" y="1952327"/>
            <a:ext cx="5234849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700K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01014" y="2796679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Rows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6503" y="3197225"/>
            <a:ext cx="52348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Synthetic patient profiles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210244" y="1952327"/>
            <a:ext cx="5234948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24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7664854" y="2796679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Features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10244" y="3197225"/>
            <a:ext cx="523494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4 domains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6503" y="3951784"/>
            <a:ext cx="5234849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201014" y="4796135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Missing Values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6503" y="5196681"/>
            <a:ext cx="52348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Clean dataset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210244" y="3951784"/>
            <a:ext cx="5234948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62%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7664854" y="4796135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Positive Class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10244" y="5196681"/>
            <a:ext cx="523494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Mildly imbalanced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46503" y="5697934"/>
            <a:ext cx="1069868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Features span </a:t>
            </a:r>
            <a:pPr algn="l"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clinical measurements</a:t>
            </a:r>
            <a:pPr algn="l"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(BMI, blood pressure, cholesterol, …), </a:t>
            </a:r>
            <a:pPr algn="l"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lifestyle habits</a:t>
            </a:r>
            <a:pPr algn="l"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(diet, activity, sleep, …), </a:t>
            </a:r>
            <a:pPr algn="l"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demographics</a:t>
            </a:r>
            <a:pPr algn="l"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(age, ethnicity, income, …) and </a:t>
            </a:r>
            <a:pPr algn="l"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medical history</a:t>
            </a:r>
            <a:pPr algn="l"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(family diabetes, hypertension, cardiovascular, …).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35992"/>
            <a:ext cx="1631215" cy="344289"/>
          </a:xfrm>
          <a:prstGeom prst="roundRect">
            <a:avLst>
              <a:gd name="adj" fmla="val 37552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5574" y="696119"/>
            <a:ext cx="2012800" cy="224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61574" y="1048445"/>
            <a:ext cx="8035029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Target Distribution &amp; Class Balance</a:t>
            </a:r>
            <a:endParaRPr lang="en-US" sz="35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574" y="2183408"/>
            <a:ext cx="6565637" cy="37206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17270" y="2036068"/>
            <a:ext cx="2854154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Class Proportions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8017270" y="2487116"/>
            <a:ext cx="3519201" cy="2114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62.33%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diagnosed with diabetes (positive class) vs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37.67%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without. Positive/negative ratio: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1.65</a:t>
            </a:r>
            <a:pPr algn="l"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target is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mildly imbalanced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stratified splits and class-weighting were considered, but stratification alone proved sufficient.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17270" y="4793159"/>
            <a:ext cx="3519201" cy="1236960"/>
          </a:xfrm>
          <a:prstGeom prst="roundRect">
            <a:avLst>
              <a:gd name="adj" fmla="val 13065"/>
            </a:avLst>
          </a:prstGeom>
          <a:solidFill>
            <a:srgbClr val="B6D6F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752" y="5063629"/>
            <a:ext cx="224427" cy="17948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00661" y="4991497"/>
            <a:ext cx="2756327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 duplicate rows detected. Zero NaN values across all 26 columns.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19807"/>
            <a:ext cx="1354997" cy="272256"/>
          </a:xfrm>
          <a:prstGeom prst="roundRect">
            <a:avLst>
              <a:gd name="adj" fmla="val 39365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2148" y="570805"/>
            <a:ext cx="1773292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9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6503" y="838895"/>
            <a:ext cx="636581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Numerical Features Distributions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746503" y="1479848"/>
            <a:ext cx="10698689" cy="425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 understand the intrinsic shape, symmetry, and potential anomalies of our continuous features, a histogram with a Kernel Density Estimate (KDE) was plotted for each of the 14 numerical variables, using 40 bins.</a:t>
            </a:r>
            <a:endParaRPr lang="en-US" sz="11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03" y="2578795"/>
            <a:ext cx="2641633" cy="26416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42957" y="2154535"/>
            <a:ext cx="2470187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Observations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942957" y="2504182"/>
            <a:ext cx="3508486" cy="32167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Most clinical features (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bmi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systolic_bp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heart_rate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cholesterol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metrics) exhibit a roughly bell-shaped, near-Gaussian distribution.</a:t>
            </a:r>
            <a:endParaRPr lang="en-US" sz="1150" dirty="0"/>
          </a:p>
          <a:p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physical_activity_minutes_per_week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is distinctly right-skewed with a prominent long tail, indicating a few patients with exceptionally high activity levels.</a:t>
            </a:r>
            <a:endParaRPr lang="en-US" sz="1150" dirty="0"/>
          </a:p>
          <a:p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diet_score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sleep_hours_per_day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and 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screen_time_hours_per_day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generally appear symmetric.</a:t>
            </a:r>
            <a:endParaRPr lang="en-US" sz="1150" dirty="0"/>
          </a:p>
          <a:p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pPr algn="l" marL="342900" indent="-342900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spans a wide range from 19 to 89 years, with a relatively uniform distribution across adult age groups.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46503" y="5893792"/>
            <a:ext cx="10698689" cy="444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      </a:t>
            </a:r>
            <a:pPr algn="l" indent="0" marL="0">
              <a:lnSpc>
                <a:spcPct val="119000"/>
              </a:lnSpc>
              <a:buNone/>
            </a:pP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Takeaway:</a:t>
            </a:r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The majority of features are mostly well-behaved and near-Gaussian, which supports the effectiveness of </a:t>
            </a:r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StandardScaler</a:t>
            </a:r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for preprocessing. </a:t>
            </a:r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physical_activity_minutes_per_week</a:t>
            </a:r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remains the main exception, echoing its significance in outlier analysis.     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552252"/>
            <a:ext cx="1546186" cy="321568"/>
          </a:xfrm>
          <a:prstGeom prst="roundRect">
            <a:avLst>
              <a:gd name="adj" fmla="val 38090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9918" y="609600"/>
            <a:ext cx="1939083" cy="206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574" y="935038"/>
            <a:ext cx="6196056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Outlier Detection (IQR Rule)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61574" y="1696244"/>
            <a:ext cx="11478132" cy="264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Outliers are flagged using the IQR rule: points falling outside </a:t>
            </a:r>
            <a:pPr algn="l" indent="0" marL="0">
              <a:lnSpc>
                <a:spcPct val="127000"/>
              </a:lnSpc>
              <a:buNone/>
            </a:pPr>
            <a:r>
              <a:rPr lang="en-US" sz="1300" i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[Q1 - 1.5 \cdot IQR, Q3 + 1.5 \cdot IQR]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574" y="2305447"/>
            <a:ext cx="3138607" cy="313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02090" y="2286298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Observations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002090" y="2705100"/>
            <a:ext cx="3534282" cy="2444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Heavy upper tails: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Pronounced in 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physical_activity_minutes_per_week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(max value 747, far exceeding IQR upper bound), 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triglycerides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cholesterol_total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ldl_cholesterol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systolic_bp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and 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bmi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300" dirty="0"/>
          </a:p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Two-sided tails: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Features like 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hdl_cholesterol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waist_to_hip_ratio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and 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heart_rate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exhibit significant outliers on both the lower and upper bounds.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1574" y="5788620"/>
            <a:ext cx="10868547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Takeaway: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This highlights the necessity of 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 scaling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for linear models (SVM, KNN), which are highly sensitive to extreme values. Tree-based models (Random Forest, XGBoost, CatBoost) are inherently more robust to outliers.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69317"/>
            <a:ext cx="1521680" cy="315119"/>
          </a:xfrm>
          <a:prstGeom prst="roundRect">
            <a:avLst>
              <a:gd name="adj" fmla="val 38262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3260" y="625872"/>
            <a:ext cx="1917751" cy="2020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46503" y="943769"/>
            <a:ext cx="5155972" cy="523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Correlation with Target</a:t>
            </a:r>
            <a:endParaRPr lang="en-US" sz="32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03" y="2252266"/>
            <a:ext cx="6129978" cy="34736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72523" y="1837928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Insights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972523" y="2247900"/>
            <a:ext cx="3478919" cy="757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All per-feature correlations are </a:t>
            </a:r>
            <a:pPr algn="l"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weak</a:t>
            </a:r>
            <a:pPr algn="l"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no single feature is a strong standalone predictor.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972523" y="3139182"/>
            <a:ext cx="3478919" cy="2124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Top positive:</a:t>
            </a:r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family_history_diabetes (r=0.21), age (r=0.16), systolic_bp, BMI, LDL</a:t>
            </a:r>
            <a:endParaRPr lang="en-US" sz="1300" dirty="0"/>
          </a:p>
          <a:p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Top negative:</a:t>
            </a:r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physical_activity_minutes_per_week (r=−0.17), HDL, diet_score</a:t>
            </a:r>
            <a:endParaRPr lang="en-US" sz="1300" dirty="0"/>
          </a:p>
          <a:p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Near-zero:</a:t>
            </a:r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sleep_hours_per_day, alcohol_consumption_per_week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972523" y="5397302"/>
            <a:ext cx="3478919" cy="757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This explains the modest final ROC-AUC — the signal is distributed across many weak features.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56233"/>
            <a:ext cx="1282370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4263" y="710704"/>
            <a:ext cx="1686577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574" y="1009848"/>
            <a:ext cx="7846122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From Raw Data to Model-Ready Matrix</a:t>
            </a:r>
            <a:endParaRPr lang="en-US" sz="3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574" y="1716683"/>
            <a:ext cx="803255" cy="9640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1351" y="1877318"/>
            <a:ext cx="308403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Drop ID + Target (for training set)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601351" y="2210197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Remove non-predictive row identifier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74" y="2680692"/>
            <a:ext cx="803255" cy="9640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1351" y="2841327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Encode Categoricals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1601351" y="3174206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Ordinal for education &amp; income; one-hot for gender, ethnicity, smoking, employment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3644702"/>
            <a:ext cx="803255" cy="96400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01351" y="3805337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Split Data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1601351" y="4138216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67% train / 33% test, stratified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74" y="4608711"/>
            <a:ext cx="803255" cy="96400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01351" y="4769346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Scale Features</a:t>
            </a:r>
            <a:endParaRPr lang="en-US" sz="1550" dirty="0"/>
          </a:p>
        </p:txBody>
      </p:sp>
      <p:sp>
        <p:nvSpPr>
          <p:cNvPr id="16" name="Text 10"/>
          <p:cNvSpPr/>
          <p:nvPr/>
        </p:nvSpPr>
        <p:spPr>
          <a:xfrm>
            <a:off x="1601351" y="5102225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StandardScaler on continuous features (mean=0, std=1)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661574" y="5726311"/>
            <a:ext cx="10868547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 matrix expanded from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24 → 35 columns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after one-hot encoding. StandardScaler outperformed RobustScaler and no-scaling in validation tests.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38274"/>
            <a:ext cx="1356882" cy="321568"/>
          </a:xfrm>
          <a:prstGeom prst="roundRect">
            <a:avLst>
              <a:gd name="adj" fmla="val 38090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9918" y="695623"/>
            <a:ext cx="1749778" cy="206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PREPROCESSING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574" y="1021060"/>
            <a:ext cx="7245070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Encoding of Categorical Features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61574" y="1782266"/>
            <a:ext cx="10868547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 prepare categorical features for machine learning models, three distinct encoding strategies were applied based on the variable's nature.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1574" y="2624733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Ordinal Encoding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61574" y="3043535"/>
            <a:ext cx="330856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For variables with an inherent, meaningful order, ordinal encoding was used to preserve their ranking information.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574" y="3956943"/>
            <a:ext cx="3308565" cy="11132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education_level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 No formal &lt; Highschool &lt; Graduate &lt; Postgraduate</a:t>
            </a:r>
            <a:endParaRPr lang="en-US" sz="1300" dirty="0"/>
          </a:p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income_level</a:t>
            </a:r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 Low &lt; Lower-Middle &lt; Middle &lt; Upper-Middle &lt; High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91411" y="2624733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One-Hot Encoding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391411" y="3043535"/>
            <a:ext cx="3421374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Purely nominal variables, where no natural order exists, were converted into binary (0/1) columns.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91411" y="3956943"/>
            <a:ext cx="3421374" cy="12457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gender</a:t>
            </a:r>
            <a:endParaRPr lang="en-US" sz="1300" dirty="0"/>
          </a:p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ethnicity</a:t>
            </a:r>
            <a:endParaRPr lang="en-US" sz="1300" dirty="0"/>
          </a:p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smoking_status</a:t>
            </a:r>
            <a:endParaRPr lang="en-US" sz="1300" dirty="0"/>
          </a:p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employment_status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34057" y="2624733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No Encoding Needed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34057" y="3043535"/>
            <a:ext cx="330856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Binary flags, already represented as 0s and 1s, required no further transformation.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34057" y="3956943"/>
            <a:ext cx="3308565" cy="920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family_history_diabetes</a:t>
            </a:r>
            <a:endParaRPr lang="en-US" sz="1300" dirty="0"/>
          </a:p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hypertension_history</a:t>
            </a:r>
            <a:endParaRPr lang="en-US" sz="1300" dirty="0"/>
          </a:p>
          <a:p>
            <a:pPr algn="l" marL="342900" indent="-342900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cardiovascular_history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61574" y="5428555"/>
            <a:ext cx="10868547" cy="618927"/>
          </a:xfrm>
          <a:prstGeom prst="roundRect">
            <a:avLst>
              <a:gd name="adj" fmla="val 24737"/>
            </a:avLst>
          </a:prstGeom>
          <a:solidFill>
            <a:srgbClr val="B5DAFC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31" y="5663704"/>
            <a:ext cx="212620" cy="170061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4308" y="5608737"/>
            <a:ext cx="10755341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one-hot encoding process expanded the feature matrix from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24 raw features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to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35 columns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65758"/>
            <a:ext cx="1356882" cy="321568"/>
          </a:xfrm>
          <a:prstGeom prst="roundRect">
            <a:avLst>
              <a:gd name="adj" fmla="val 38090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9918" y="723106"/>
            <a:ext cx="1749778" cy="206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PREPROCESSING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574" y="1048544"/>
            <a:ext cx="7381194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Feature Scaling — StandardScaler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61574" y="1809750"/>
            <a:ext cx="10868547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StandardScaler standardizes each continuous feature to mean 0 and standard deviation 1 (z = (x − μ) / σ), mapping it onto the standard normal distribution.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525" y="2499122"/>
            <a:ext cx="5376728" cy="176996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07829" y="2688233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Why use it?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07829" y="3045718"/>
            <a:ext cx="4922317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Features with different ranges and units can bias scale-sensitive algorithms (KNN, SVM, Logistic Regression, Neural Networks). Scaling ensures all features contribute equally by putting them on a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comparable scale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3294" y="2499122"/>
            <a:ext cx="5376827" cy="176996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18598" y="2688233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Scope of application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6418598" y="3045718"/>
            <a:ext cx="4922417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Applied exclusively to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continuous numerical features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 Binary flags and one-hot encoded columns are intentionally left unchanged, preserving their intrinsic categorical meaning.</a:t>
            </a:r>
            <a:endParaRPr lang="en-US" sz="13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2525" y="4422180"/>
            <a:ext cx="5376728" cy="176996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07829" y="4611291"/>
            <a:ext cx="348219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Critical Rule: Prevent Data Leakage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907829" y="4968776"/>
            <a:ext cx="4922317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scaler must be fit </a:t>
            </a:r>
            <a:pPr algn="l" indent="0" marL="0">
              <a:lnSpc>
                <a:spcPct val="1270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only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on the training set. This fitted scaler is then used to transform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both the training and test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data, preventing information from the test set from influencing the training process.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3294" y="4422180"/>
            <a:ext cx="5376827" cy="176996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418598" y="4611291"/>
            <a:ext cx="2745215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Note on Tree-Based Models</a:t>
            </a:r>
            <a:endParaRPr lang="en-US" sz="1650" dirty="0"/>
          </a:p>
        </p:txBody>
      </p:sp>
      <p:sp>
        <p:nvSpPr>
          <p:cNvPr id="17" name="Text 11"/>
          <p:cNvSpPr/>
          <p:nvPr/>
        </p:nvSpPr>
        <p:spPr>
          <a:xfrm>
            <a:off x="6418598" y="4968776"/>
            <a:ext cx="4922417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Tree-based models (Random Forest, XGBoost, CatBoost) are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scale-invariant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and can perform well on unscaled data. For this project, they were evaluated using both scaled and unscaled features for completeness.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519807"/>
            <a:ext cx="1314417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4263" y="574278"/>
            <a:ext cx="1718624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MODEL TRAINING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574" y="873423"/>
            <a:ext cx="8140992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8 Classifiers, GridSearchCV &amp; ROC-AUC</a:t>
            </a:r>
            <a:endParaRPr lang="en-US" sz="3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574" y="1733848"/>
            <a:ext cx="4452528" cy="4452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98149" y="2750245"/>
            <a:ext cx="261782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Training Setup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298149" y="3137793"/>
            <a:ext cx="5238321" cy="8086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Scoring:</a:t>
            </a:r>
            <a:pPr algn="l" marL="342900" indent="-3429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ROC-AUC (robust to class imbalance)</a:t>
            </a:r>
            <a:endParaRPr lang="en-US" sz="1250" dirty="0"/>
          </a:p>
          <a:p>
            <a:pPr algn="l" marL="342900" indent="-342900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CV:</a:t>
            </a:r>
            <a:pPr algn="l" marL="342900" indent="-3429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5-fold StratifiedKFold (preserves class ratio)</a:t>
            </a:r>
            <a:endParaRPr lang="en-US" sz="1250" dirty="0"/>
          </a:p>
          <a:p>
            <a:pPr algn="l" marL="342900" indent="-342900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Hold-out:</a:t>
            </a:r>
            <a:pPr algn="l" marL="342900" indent="-3429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Test set (~231K rows) touched </a:t>
            </a:r>
            <a:pPr algn="l" marL="342900" indent="-342900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once</a:t>
            </a:r>
            <a:pPr algn="l" marL="342900" indent="-3429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at the end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298149" y="4082951"/>
            <a:ext cx="261782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Parameter Grids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298149" y="4470499"/>
            <a:ext cx="5238321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Ranging from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10 combinations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(Naive Bayes) to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54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(XGBoost, LightGBM). All models tuned with identical CV strategy for fair comparison.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45418"/>
            <a:ext cx="756326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4263" y="699889"/>
            <a:ext cx="1160533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574" y="999034"/>
            <a:ext cx="7863881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Evaluation: Boosting Models Dominate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661574" y="1555651"/>
            <a:ext cx="343149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ROC-AUC Rankings (Test Set)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61574" y="2011462"/>
            <a:ext cx="10868547" cy="3790752"/>
          </a:xfrm>
          <a:prstGeom prst="roundRect">
            <a:avLst>
              <a:gd name="adj" fmla="val 3815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9845" y="2106017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Model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447667" y="2106017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ROC-AUC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65489" y="2106017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Accuracy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9845" y="2526506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CatBoostClassifier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47667" y="2526506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0.726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65489" y="2526506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0.684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9845" y="2946995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LightGBM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447667" y="2946995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0.725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065489" y="2946995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0.683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9845" y="3367484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XGBoost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447667" y="3367484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0.725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065489" y="3367484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0.684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9845" y="3787973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AdaBoost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447667" y="3787973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~0.70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65489" y="3787973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0.667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29845" y="4208463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Random Forest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47667" y="4208463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~0.69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065489" y="4208463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0.660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9845" y="4628952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Decision Tree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47667" y="4628952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~0.67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065489" y="4628952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0.662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29845" y="5049441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Naive Bayes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447667" y="5049441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~0.65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65489" y="5049441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0.625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9845" y="5469930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KNN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447667" y="5469930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~0.60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65489" y="5469930"/>
            <a:ext cx="39061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0.576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61574" y="5955804"/>
            <a:ext cx="11478132" cy="256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Best CatBoost params: 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{depth: 6, iterations: 400, lr: 0.2}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 Macro-recall of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0.63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shows the minority class is harder to capture.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34802"/>
            <a:ext cx="827265" cy="236041"/>
          </a:xfrm>
          <a:prstGeom prst="roundRect">
            <a:avLst>
              <a:gd name="adj" fmla="val 40360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7297" y="680839"/>
            <a:ext cx="1265404" cy="143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8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EVALUATION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61574" y="907852"/>
            <a:ext cx="6826575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Final Model — Evaluation on the Test Set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61574" y="1460202"/>
            <a:ext cx="1147813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best model,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CatBoost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is evaluated once on the isolated hold-out test set (~231K rows).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574" y="1848545"/>
            <a:ext cx="2180674" cy="2180729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523" y="2059285"/>
            <a:ext cx="1759104" cy="17591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93472" y="4303712"/>
            <a:ext cx="2481895" cy="436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4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0.73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1607502" y="4875907"/>
            <a:ext cx="165383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ROC-AUC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854850" y="4303712"/>
            <a:ext cx="2481895" cy="436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4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0.68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5268880" y="4875907"/>
            <a:ext cx="165383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516228" y="4303712"/>
            <a:ext cx="2481994" cy="436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4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0.63</a:t>
            </a:r>
            <a:endParaRPr lang="en-US" sz="3400" dirty="0"/>
          </a:p>
        </p:txBody>
      </p:sp>
      <p:sp>
        <p:nvSpPr>
          <p:cNvPr id="13" name="Text 9"/>
          <p:cNvSpPr/>
          <p:nvPr/>
        </p:nvSpPr>
        <p:spPr>
          <a:xfrm>
            <a:off x="8930258" y="4875907"/>
            <a:ext cx="165383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Macro-Recall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61574" y="5186759"/>
            <a:ext cx="10868547" cy="572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Reading the confusion matrix: the model catches the majority "diabetes" class well (recall ≈ 85%) but struggles with the minority "no diabetes" class (recall ≈ 41%) — it tends to over-predict diabetes.</a:t>
            </a:r>
            <a:endParaRPr lang="en-US" sz="1000" dirty="0"/>
          </a:p>
          <a:p>
            <a:pPr algn="l" marL="342900" indent="-342900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That per-class gap is exactly why macro-recall (~0.63) sits below accuracy (~0.68).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61574" y="5863233"/>
            <a:ext cx="10868547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     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Takeaway: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Performance is modest but clearly above random (AUC 0.50); the minority "no diabetes" class is the harder one to capture — consistent with the weak feature correlations seen in the EDA.     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1678781"/>
            <a:ext cx="1071933" cy="277515"/>
          </a:xfrm>
          <a:prstGeom prst="roundRect">
            <a:avLst>
              <a:gd name="adj" fmla="val 39232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608" y="1730474"/>
            <a:ext cx="1487450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CONCLUSIONS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61574" y="2004616"/>
            <a:ext cx="4389923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Takeaways</a:t>
            </a:r>
            <a:endParaRPr lang="en-US" sz="2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525" y="2658467"/>
            <a:ext cx="5392801" cy="13023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8978" y="2828727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Best Model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88978" y="3137495"/>
            <a:ext cx="4976093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CatBoostClassifier</a:t>
            </a:r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achieved </a:t>
            </a:r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ROC-AUC = 0.726</a:t>
            </a:r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modest but well above random (0.50), consistent with weak per-feature correlations found in EDA.</a:t>
            </a:r>
            <a:endParaRPr lang="en-US" sz="11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7221" y="2658467"/>
            <a:ext cx="5392900" cy="130234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83674" y="2828727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Boosting Wins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6383674" y="3137495"/>
            <a:ext cx="497619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CatBoost, LightGBM, and XGBoost clustered tightly at </a:t>
            </a:r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0.725–0.726</a:t>
            </a:r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clearly outperforming all other approaches.</a:t>
            </a:r>
            <a:endParaRPr lang="en-US" sz="11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2525" y="4081760"/>
            <a:ext cx="5392801" cy="109735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88978" y="4252020"/>
            <a:ext cx="247624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No Class Weighting Needed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888978" y="4560788"/>
            <a:ext cx="4976093" cy="448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Top models used </a:t>
            </a:r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auto_class_weights: None</a:t>
            </a:r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stratification alone handled the mild imbalance.</a:t>
            </a:r>
            <a:endParaRPr lang="en-US" sz="11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37221" y="4081760"/>
            <a:ext cx="5392900" cy="109735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83674" y="4252020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Scaling Matters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6383674" y="4560788"/>
            <a:ext cx="497619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StandardScaler consistently outperformed RobustScaler and no-scaling, though differences were small for tree-based models.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2026-06-14T18:08:12Z</dcterms:created>
  <dcterms:modified xsi:type="dcterms:W3CDTF">2026-06-14T18:08:12Z</dcterms:modified>
</cp:coreProperties>
</file>